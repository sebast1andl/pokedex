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13.svg" ContentType="image/svg+xml"/>
  <Override PartName="/ppt/media/image15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  <p:embeddedFontLst>
    <p:embeddedFont>
      <p:font typeface="DM Sans Medium" pitchFamily="34" charset="0"/>
      <p:regular r:id="rId14"/>
    </p:embeddedFont>
    <p:embeddedFont>
      <p:font typeface="DM Sans Medium" pitchFamily="34" charset="-122"/>
      <p:regular r:id="rId15"/>
    </p:embeddedFont>
    <p:embeddedFont>
      <p:font typeface="DM Sans Medium" pitchFamily="34" charset="-120"/>
      <p:regular r:id="rId16"/>
    </p:embeddedFont>
    <p:embeddedFont>
      <p:font typeface="Inter" panose="02000503000000020004" pitchFamily="34" charset="0"/>
      <p:regular r:id="rId17"/>
    </p:embeddedFont>
    <p:embeddedFont>
      <p:font typeface="Inter" panose="02000503000000020004" pitchFamily="34" charset="-122"/>
      <p:regular r:id="rId18"/>
    </p:embeddedFont>
    <p:embeddedFont>
      <p:font typeface="Inter" panose="02000503000000020004" pitchFamily="34" charset="-120"/>
      <p:regular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1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10.fntdata"/><Relationship Id="rId22" Type="http://schemas.openxmlformats.org/officeDocument/2006/relationships/font" Target="fonts/font9.fntdata"/><Relationship Id="rId21" Type="http://schemas.openxmlformats.org/officeDocument/2006/relationships/font" Target="fonts/font8.fntdata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3133"/>
          </a:solidFill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svg"/><Relationship Id="rId7" Type="http://schemas.openxmlformats.org/officeDocument/2006/relationships/image" Target="../media/image10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3.xml"/><Relationship Id="rId12" Type="http://schemas.openxmlformats.org/officeDocument/2006/relationships/image" Target="../media/image15.svg"/><Relationship Id="rId11" Type="http://schemas.openxmlformats.org/officeDocument/2006/relationships/image" Target="../media/image14.png"/><Relationship Id="rId10" Type="http://schemas.openxmlformats.org/officeDocument/2006/relationships/image" Target="../media/image13.sv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svg"/><Relationship Id="rId8" Type="http://schemas.openxmlformats.org/officeDocument/2006/relationships/image" Target="../media/image20.png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12.xml"/><Relationship Id="rId20" Type="http://schemas.openxmlformats.org/officeDocument/2006/relationships/tags" Target="../tags/tag11.xml"/><Relationship Id="rId2" Type="http://schemas.openxmlformats.org/officeDocument/2006/relationships/tags" Target="../tags/tag1.xml"/><Relationship Id="rId19" Type="http://schemas.openxmlformats.org/officeDocument/2006/relationships/image" Target="../media/image25.svg"/><Relationship Id="rId18" Type="http://schemas.openxmlformats.org/officeDocument/2006/relationships/image" Target="../media/image24.png"/><Relationship Id="rId17" Type="http://schemas.openxmlformats.org/officeDocument/2006/relationships/tags" Target="../tags/tag10.xml"/><Relationship Id="rId16" Type="http://schemas.openxmlformats.org/officeDocument/2006/relationships/tags" Target="../tags/tag9.xml"/><Relationship Id="rId15" Type="http://schemas.openxmlformats.org/officeDocument/2006/relationships/tags" Target="../tags/tag8.xml"/><Relationship Id="rId14" Type="http://schemas.openxmlformats.org/officeDocument/2006/relationships/image" Target="../media/image23.svg"/><Relationship Id="rId13" Type="http://schemas.openxmlformats.org/officeDocument/2006/relationships/image" Target="../media/image22.png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06288"/>
            <a:ext cx="3170709" cy="339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Pokédex Interactiva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34132" y="787896"/>
            <a:ext cx="8275737" cy="3256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Aplicación móvil desarrollada con </a:t>
            </a:r>
            <a:r>
              <a:rPr lang="en-US" sz="850" b="1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Flutter 3.44.0</a:t>
            </a:r>
            <a:r>
              <a:rPr lang="en-US" sz="8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que integra la PokéAPI para poder consultar facilmente detalles sobre pokemon, búsqueda y gestión de Pokémon. Persistencia local con SQLite/Drift y consumo de APIs REST.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132" y="1327100"/>
            <a:ext cx="1530474" cy="340325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5" y="1327100"/>
            <a:ext cx="1506438" cy="3349749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0" y="4855845"/>
            <a:ext cx="9143365" cy="287655"/>
          </a:xfrm>
          <a:prstGeom prst="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>
              <a:noFill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46546"/>
            <a:ext cx="3935090" cy="3330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Requisitos Técnicos Usados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26393" y="862831"/>
            <a:ext cx="8717607" cy="1585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El proyecto con todos los requisitos técnicos establecidos, abarcando desde el framework hasta la integración con servicios externos.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26393" y="1124396"/>
            <a:ext cx="4099768" cy="1163092"/>
          </a:xfrm>
          <a:prstGeom prst="roundRect">
            <a:avLst>
              <a:gd name="adj" fmla="val 1375"/>
            </a:avLst>
          </a:prstGeom>
          <a:solidFill>
            <a:srgbClr val="4C5052"/>
          </a:solidFill>
        </p:spPr>
      </p:sp>
      <p:sp>
        <p:nvSpPr>
          <p:cNvPr id="5" name="Shape 3"/>
          <p:cNvSpPr/>
          <p:nvPr/>
        </p:nvSpPr>
        <p:spPr>
          <a:xfrm>
            <a:off x="532954" y="1230957"/>
            <a:ext cx="319757" cy="319757"/>
          </a:xfrm>
          <a:prstGeom prst="roundRect">
            <a:avLst>
              <a:gd name="adj" fmla="val 17871160"/>
            </a:avLst>
          </a:prstGeom>
          <a:solidFill>
            <a:srgbClr val="AC9EF5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0911" y="1318915"/>
            <a:ext cx="143842" cy="143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2954" y="1642318"/>
            <a:ext cx="1332458" cy="166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Flutter 3.44.0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32954" y="1863775"/>
            <a:ext cx="3886646" cy="3171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Framework multiplataforma(en nuestro caso solo Android) con los features estructurados.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617765" y="1124396"/>
            <a:ext cx="4099843" cy="1163092"/>
          </a:xfrm>
          <a:prstGeom prst="roundRect">
            <a:avLst>
              <a:gd name="adj" fmla="val 1375"/>
            </a:avLst>
          </a:prstGeom>
          <a:solidFill>
            <a:srgbClr val="4C5052"/>
          </a:solidFill>
        </p:spPr>
      </p:sp>
      <p:sp>
        <p:nvSpPr>
          <p:cNvPr id="10" name="Shape 7"/>
          <p:cNvSpPr/>
          <p:nvPr/>
        </p:nvSpPr>
        <p:spPr>
          <a:xfrm>
            <a:off x="4724326" y="1230957"/>
            <a:ext cx="319757" cy="319757"/>
          </a:xfrm>
          <a:prstGeom prst="roundRect">
            <a:avLst>
              <a:gd name="adj" fmla="val 17871160"/>
            </a:avLst>
          </a:prstGeom>
          <a:solidFill>
            <a:srgbClr val="AC9EF5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2283" y="1318915"/>
            <a:ext cx="143842" cy="143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24326" y="1642318"/>
            <a:ext cx="1332458" cy="166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Material Design 3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724326" y="1863775"/>
            <a:ext cx="3886721" cy="3171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Implementación completa del sistema de diseño de Google con componentes nativos.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26393" y="2379092"/>
            <a:ext cx="4099768" cy="1163092"/>
          </a:xfrm>
          <a:prstGeom prst="roundRect">
            <a:avLst>
              <a:gd name="adj" fmla="val 1375"/>
            </a:avLst>
          </a:prstGeom>
          <a:solidFill>
            <a:srgbClr val="4C5052"/>
          </a:solidFill>
        </p:spPr>
      </p:sp>
      <p:sp>
        <p:nvSpPr>
          <p:cNvPr id="15" name="Shape 11"/>
          <p:cNvSpPr/>
          <p:nvPr/>
        </p:nvSpPr>
        <p:spPr>
          <a:xfrm>
            <a:off x="532954" y="2485653"/>
            <a:ext cx="319757" cy="319757"/>
          </a:xfrm>
          <a:prstGeom prst="roundRect">
            <a:avLst>
              <a:gd name="adj" fmla="val 17871160"/>
            </a:avLst>
          </a:prstGeom>
          <a:solidFill>
            <a:srgbClr val="AC9EF5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911" y="2573610"/>
            <a:ext cx="143842" cy="143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2954" y="2897014"/>
            <a:ext cx="1405161" cy="166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Navegación Multi-ruta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32954" y="3118470"/>
            <a:ext cx="3886646" cy="3171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Flujo completo: Splash → Login → Registro → Home → Detalle → Settings, con gestión de estados de autenticación.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617765" y="2379092"/>
            <a:ext cx="4099843" cy="1163092"/>
          </a:xfrm>
          <a:prstGeom prst="roundRect">
            <a:avLst>
              <a:gd name="adj" fmla="val 1375"/>
            </a:avLst>
          </a:prstGeom>
          <a:solidFill>
            <a:srgbClr val="4C5052"/>
          </a:solidFill>
        </p:spPr>
      </p:sp>
      <p:sp>
        <p:nvSpPr>
          <p:cNvPr id="20" name="Shape 15"/>
          <p:cNvSpPr/>
          <p:nvPr/>
        </p:nvSpPr>
        <p:spPr>
          <a:xfrm>
            <a:off x="4724326" y="2485653"/>
            <a:ext cx="319757" cy="319757"/>
          </a:xfrm>
          <a:prstGeom prst="roundRect">
            <a:avLst>
              <a:gd name="adj" fmla="val 17871160"/>
            </a:avLst>
          </a:prstGeom>
          <a:solidFill>
            <a:srgbClr val="AC9EF5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12283" y="2573610"/>
            <a:ext cx="143842" cy="143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24326" y="2897014"/>
            <a:ext cx="1332458" cy="166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SQLite + Drift ORM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724326" y="3118470"/>
            <a:ext cx="3886721" cy="3171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Persistencia local con mapeo objeto-relacional para usuarios, Pokémon y favoritos.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426393" y="3633788"/>
            <a:ext cx="4099768" cy="1163092"/>
          </a:xfrm>
          <a:prstGeom prst="roundRect">
            <a:avLst>
              <a:gd name="adj" fmla="val 1375"/>
            </a:avLst>
          </a:prstGeom>
          <a:solidFill>
            <a:srgbClr val="4C5052"/>
          </a:solidFill>
        </p:spPr>
      </p:sp>
      <p:sp>
        <p:nvSpPr>
          <p:cNvPr id="25" name="Shape 19"/>
          <p:cNvSpPr/>
          <p:nvPr/>
        </p:nvSpPr>
        <p:spPr>
          <a:xfrm>
            <a:off x="532954" y="3740348"/>
            <a:ext cx="319757" cy="319757"/>
          </a:xfrm>
          <a:prstGeom prst="roundRect">
            <a:avLst>
              <a:gd name="adj" fmla="val 17871160"/>
            </a:avLst>
          </a:prstGeom>
          <a:solidFill>
            <a:srgbClr val="AC9EF5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0911" y="3828306"/>
            <a:ext cx="143842" cy="143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2954" y="4151709"/>
            <a:ext cx="1332458" cy="166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SharedPreferences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32954" y="4373166"/>
            <a:ext cx="3886646" cy="3171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Almacenamiento ligero de preferencias del usuario y estado de sesión entre ejecuciones.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4617765" y="3633788"/>
            <a:ext cx="4099843" cy="1163092"/>
          </a:xfrm>
          <a:prstGeom prst="roundRect">
            <a:avLst>
              <a:gd name="adj" fmla="val 1375"/>
            </a:avLst>
          </a:prstGeom>
          <a:solidFill>
            <a:srgbClr val="4C5052"/>
          </a:solidFill>
        </p:spPr>
      </p:sp>
      <p:sp>
        <p:nvSpPr>
          <p:cNvPr id="30" name="Shape 23"/>
          <p:cNvSpPr/>
          <p:nvPr/>
        </p:nvSpPr>
        <p:spPr>
          <a:xfrm>
            <a:off x="4724326" y="3740348"/>
            <a:ext cx="319757" cy="319757"/>
          </a:xfrm>
          <a:prstGeom prst="roundRect">
            <a:avLst>
              <a:gd name="adj" fmla="val 17871160"/>
            </a:avLst>
          </a:prstGeom>
          <a:solidFill>
            <a:srgbClr val="AC9EF5"/>
          </a:solidFill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12283" y="3828306"/>
            <a:ext cx="143842" cy="143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724326" y="4151709"/>
            <a:ext cx="1332458" cy="166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API REST · Dio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724326" y="4373166"/>
            <a:ext cx="3886721" cy="31715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Consumo de la PokéAPI mediante el cliente HTTP Dio con manejo de errores y respuestas asíncronas.</a:t>
            </a:r>
            <a:endParaRPr lang="en-US" sz="800" dirty="0"/>
          </a:p>
        </p:txBody>
      </p:sp>
      <p:sp>
        <p:nvSpPr>
          <p:cNvPr id="35" name="Rectángulo 34"/>
          <p:cNvSpPr/>
          <p:nvPr/>
        </p:nvSpPr>
        <p:spPr>
          <a:xfrm>
            <a:off x="635" y="4855845"/>
            <a:ext cx="9143365" cy="287655"/>
          </a:xfrm>
          <a:prstGeom prst="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>
              <a:noFill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1487"/>
            <a:ext cx="6789762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Antes y Después: Figma vs Implementación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07058"/>
            <a:ext cx="815176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El diseño visual fue prototipado en </a:t>
            </a:r>
            <a:r>
              <a:rPr lang="en-US" sz="950" b="1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Figma</a:t>
            </a:r>
            <a:r>
              <a:rPr lang="en-US" sz="9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y posteriormente implementado en Flutter con algunos cambios. La comparación demuestra una coherencia entre el diseño y el producto final.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83035"/>
            <a:ext cx="4364162" cy="27493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49814" y="1755130"/>
            <a:ext cx="2402756" cy="11287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2400"/>
              </a:spcAft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2400"/>
              </a:spcAft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2400"/>
              </a:spcAft>
              <a:buNone/>
            </a:pP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249814" y="3007816"/>
            <a:ext cx="2402756" cy="4650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Estas interfaces son las que creamos en figma</a:t>
            </a:r>
            <a:endParaRPr lang="en-US" sz="1450" dirty="0"/>
          </a:p>
        </p:txBody>
      </p:sp>
      <p:sp>
        <p:nvSpPr>
          <p:cNvPr id="20" name="Rectángulo 19"/>
          <p:cNvSpPr/>
          <p:nvPr/>
        </p:nvSpPr>
        <p:spPr>
          <a:xfrm>
            <a:off x="0" y="4855845"/>
            <a:ext cx="9143365" cy="287655"/>
          </a:xfrm>
          <a:prstGeom prst="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>
              <a:noFill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3580"/>
            <a:ext cx="4219798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Arquitectura del Proyecto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19151"/>
            <a:ext cx="815176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La aplicación sigue una </a:t>
            </a:r>
            <a:r>
              <a:rPr lang="en-US" sz="950" b="1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arquitectura modular por features</a:t>
            </a:r>
            <a:r>
              <a:rPr lang="en-US" sz="9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con separación de responsabilidades, facilitando el mantenimiento y  la escalabilidad del código.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955602"/>
            <a:ext cx="4013895" cy="1140172"/>
          </a:xfrm>
          <a:prstGeom prst="roundRect">
            <a:avLst>
              <a:gd name="adj" fmla="val 6015"/>
            </a:avLst>
          </a:prstGeom>
          <a:solidFill>
            <a:srgbClr val="2D3133"/>
          </a:solidFill>
          <a:ln w="14288">
            <a:solidFill>
              <a:srgbClr val="6569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1831" y="1955602"/>
            <a:ext cx="57150" cy="1140172"/>
          </a:xfrm>
          <a:prstGeom prst="roundRect">
            <a:avLst>
              <a:gd name="adj" fmla="val 32558"/>
            </a:avLst>
          </a:prstGeom>
          <a:solidFill>
            <a:srgbClr val="AC9EF5"/>
          </a:solidFill>
        </p:spPr>
      </p:sp>
      <p:sp>
        <p:nvSpPr>
          <p:cNvPr id="6" name="Text 4"/>
          <p:cNvSpPr/>
          <p:nvPr/>
        </p:nvSpPr>
        <p:spPr>
          <a:xfrm>
            <a:off x="677242" y="2093863"/>
            <a:ext cx="236666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Estructura Modular por Features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7242" y="2362126"/>
            <a:ext cx="3694509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Cada funcionalidad (autenticación, listado, favoritos, detalles) reside en su propio módulo independiente, reduciendo el acoplamiento entre componentes.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33987" y="1955602"/>
            <a:ext cx="4013895" cy="1140172"/>
          </a:xfrm>
          <a:prstGeom prst="roundRect">
            <a:avLst>
              <a:gd name="adj" fmla="val 6015"/>
            </a:avLst>
          </a:prstGeom>
          <a:solidFill>
            <a:srgbClr val="2D3133"/>
          </a:solidFill>
          <a:ln w="14288">
            <a:solidFill>
              <a:srgbClr val="6569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9699" y="1955602"/>
            <a:ext cx="57150" cy="1140172"/>
          </a:xfrm>
          <a:prstGeom prst="roundRect">
            <a:avLst>
              <a:gd name="adj" fmla="val 32558"/>
            </a:avLst>
          </a:prstGeom>
          <a:solidFill>
            <a:srgbClr val="AC9EF5"/>
          </a:solidFill>
        </p:spPr>
      </p:sp>
      <p:sp>
        <p:nvSpPr>
          <p:cNvPr id="10" name="Text 8"/>
          <p:cNvSpPr/>
          <p:nvPr/>
        </p:nvSpPr>
        <p:spPr>
          <a:xfrm>
            <a:off x="4815111" y="2093863"/>
            <a:ext cx="179732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Separación de Concerns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15111" y="2362126"/>
            <a:ext cx="3694509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Tres capas diferenciadas: </a:t>
            </a:r>
            <a:r>
              <a:rPr lang="en-US" sz="950" b="1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core</a:t>
            </a:r>
            <a:r>
              <a:rPr lang="en-US" sz="9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(utilidades, temas, rutas), </a:t>
            </a:r>
            <a:r>
              <a:rPr lang="en-US" sz="950" b="1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features</a:t>
            </a:r>
            <a:r>
              <a:rPr lang="en-US" sz="9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(lógica de negocio) y </a:t>
            </a:r>
            <a:r>
              <a:rPr lang="en-US" sz="950" b="1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models</a:t>
            </a:r>
            <a:r>
              <a:rPr lang="en-US" sz="9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(entidades de datos), garantizando código limpio y reutilizable.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219748"/>
            <a:ext cx="4013895" cy="1140172"/>
          </a:xfrm>
          <a:prstGeom prst="roundRect">
            <a:avLst>
              <a:gd name="adj" fmla="val 6015"/>
            </a:avLst>
          </a:prstGeom>
          <a:solidFill>
            <a:srgbClr val="2D3133"/>
          </a:solidFill>
          <a:ln w="14288">
            <a:solidFill>
              <a:srgbClr val="6569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31" y="3219748"/>
            <a:ext cx="57150" cy="1140172"/>
          </a:xfrm>
          <a:prstGeom prst="roundRect">
            <a:avLst>
              <a:gd name="adj" fmla="val 32558"/>
            </a:avLst>
          </a:prstGeom>
          <a:solidFill>
            <a:srgbClr val="AC9EF5"/>
          </a:solidFill>
        </p:spPr>
      </p:sp>
      <p:sp>
        <p:nvSpPr>
          <p:cNvPr id="14" name="Text 12"/>
          <p:cNvSpPr/>
          <p:nvPr/>
        </p:nvSpPr>
        <p:spPr>
          <a:xfrm>
            <a:off x="677242" y="3358009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Patrón MVC / MVVM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7242" y="3626272"/>
            <a:ext cx="3694509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Separación entre la vista, la lógica de presentación y los datos, permitiendo cambios en la UI sin afectar la lógica de negocio subyacente.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33987" y="3219748"/>
            <a:ext cx="4013895" cy="1140172"/>
          </a:xfrm>
          <a:prstGeom prst="roundRect">
            <a:avLst>
              <a:gd name="adj" fmla="val 6015"/>
            </a:avLst>
          </a:prstGeom>
          <a:solidFill>
            <a:srgbClr val="2D3133"/>
          </a:solidFill>
          <a:ln w="14288">
            <a:solidFill>
              <a:srgbClr val="6569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9699" y="3219748"/>
            <a:ext cx="57150" cy="1140172"/>
          </a:xfrm>
          <a:prstGeom prst="roundRect">
            <a:avLst>
              <a:gd name="adj" fmla="val 32558"/>
            </a:avLst>
          </a:prstGeom>
          <a:solidFill>
            <a:srgbClr val="AC9EF5"/>
          </a:solidFill>
        </p:spPr>
      </p:sp>
      <p:sp>
        <p:nvSpPr>
          <p:cNvPr id="18" name="Text 16"/>
          <p:cNvSpPr/>
          <p:nvPr/>
        </p:nvSpPr>
        <p:spPr>
          <a:xfrm>
            <a:off x="4815111" y="3358009"/>
            <a:ext cx="1709440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Servicios Centralizados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15111" y="3626272"/>
            <a:ext cx="3694509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Los servicios de API, base de datos y preferencias se inyectan de forma centralizada, promoviendo la coherencia y facilitando el testing con mocks.</a:t>
            </a:r>
            <a:endParaRPr lang="en-US" sz="950" dirty="0"/>
          </a:p>
        </p:txBody>
      </p:sp>
      <p:sp>
        <p:nvSpPr>
          <p:cNvPr id="20" name="Rectángulo 19"/>
          <p:cNvSpPr/>
          <p:nvPr/>
        </p:nvSpPr>
        <p:spPr>
          <a:xfrm>
            <a:off x="0" y="4855845"/>
            <a:ext cx="9143365" cy="287655"/>
          </a:xfrm>
          <a:prstGeom prst="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>
              <a:noFill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2890"/>
            <a:ext cx="3558332" cy="3875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Base de Datos Local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00448"/>
            <a:ext cx="2717378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Esquema SQLite con Drift ORM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518270"/>
            <a:ext cx="4347270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Drift permite definir el esquema de la base de datos en Dart de forma tipada y segura. Las migraciones están gestionadas y el acceso a datos es completamente asíncrono.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253183"/>
            <a:ext cx="2111648" cy="1161157"/>
          </a:xfrm>
          <a:prstGeom prst="roundRect">
            <a:avLst>
              <a:gd name="adj" fmla="val 1602"/>
            </a:avLst>
          </a:prstGeom>
          <a:solidFill>
            <a:srgbClr val="4C5052"/>
          </a:solidFill>
        </p:spPr>
      </p:sp>
      <p:sp>
        <p:nvSpPr>
          <p:cNvPr id="6" name="Text 4"/>
          <p:cNvSpPr/>
          <p:nvPr/>
        </p:nvSpPr>
        <p:spPr>
          <a:xfrm>
            <a:off x="620092" y="2377157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Usuarios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0092" y="2694980"/>
            <a:ext cx="1863700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id, email, password (hash), nombre y timestamps de creación.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31740" y="2253183"/>
            <a:ext cx="2111648" cy="1161157"/>
          </a:xfrm>
          <a:prstGeom prst="roundRect">
            <a:avLst>
              <a:gd name="adj" fmla="val 1602"/>
            </a:avLst>
          </a:prstGeom>
          <a:solidFill>
            <a:srgbClr val="4C5052"/>
          </a:solidFill>
        </p:spPr>
      </p:sp>
      <p:sp>
        <p:nvSpPr>
          <p:cNvPr id="9" name="Text 7"/>
          <p:cNvSpPr/>
          <p:nvPr/>
        </p:nvSpPr>
        <p:spPr>
          <a:xfrm>
            <a:off x="2855714" y="2377157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Pokémon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55714" y="2694980"/>
            <a:ext cx="1863700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id, nombre, tipos, estadísticas, imagen y descripción almacenados localmente.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6119" y="3538314"/>
            <a:ext cx="4347270" cy="962695"/>
          </a:xfrm>
          <a:prstGeom prst="roundRect">
            <a:avLst>
              <a:gd name="adj" fmla="val 1933"/>
            </a:avLst>
          </a:prstGeom>
          <a:solidFill>
            <a:srgbClr val="4C5052"/>
          </a:solidFill>
        </p:spPr>
      </p:sp>
      <p:sp>
        <p:nvSpPr>
          <p:cNvPr id="12" name="Text 10"/>
          <p:cNvSpPr/>
          <p:nvPr/>
        </p:nvSpPr>
        <p:spPr>
          <a:xfrm>
            <a:off x="620092" y="3662288"/>
            <a:ext cx="15505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Favoritos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0092" y="3980111"/>
            <a:ext cx="4099322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Tabla intermedia que relaciona usuarios con sus Pokémon marcados como favoritos.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61421" y="1076474"/>
            <a:ext cx="3680445" cy="3564062"/>
          </a:xfrm>
          <a:prstGeom prst="roundRect">
            <a:avLst>
              <a:gd name="adj" fmla="val 522"/>
            </a:avLst>
          </a:prstGeom>
          <a:solidFill>
            <a:srgbClr val="AC9EF5"/>
          </a:solidFill>
        </p:spPr>
      </p:sp>
      <p:sp>
        <p:nvSpPr>
          <p:cNvPr id="15" name="Text 13"/>
          <p:cNvSpPr/>
          <p:nvPr/>
        </p:nvSpPr>
        <p:spPr>
          <a:xfrm>
            <a:off x="5185395" y="1200448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Validación en BBDD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85395" y="1518270"/>
            <a:ext cx="3432497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Las credenciales se verifican directamente contra SQLite, garantizando autenticación offline y persistencia del estado de sesión.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85395" y="2237631"/>
            <a:ext cx="2007766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Persistencia Offline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85395" y="2555453"/>
            <a:ext cx="3432497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Los datos de Pokémon descargados se almacenan localmente, permitiendo acceso sin conexión a internet tras la primera carga.</a:t>
            </a:r>
            <a:endParaRPr lang="en-US" sz="950" dirty="0"/>
          </a:p>
        </p:txBody>
      </p:sp>
      <p:sp>
        <p:nvSpPr>
          <p:cNvPr id="19" name="Rectángulo 18"/>
          <p:cNvSpPr/>
          <p:nvPr/>
        </p:nvSpPr>
        <p:spPr>
          <a:xfrm>
            <a:off x="0" y="4855845"/>
            <a:ext cx="9143365" cy="287655"/>
          </a:xfrm>
          <a:prstGeom prst="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>
              <a:noFill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432048"/>
            <a:ext cx="4681538" cy="345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Funcionalidades Implementadas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41871" y="924892"/>
            <a:ext cx="8702129" cy="1671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La Pokédex Interactiva cubre el ciclo completo de una aplicación móvil real: desde el onboarding hasta la interacción avanzada con datos remotos y locales.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871" y="1313334"/>
            <a:ext cx="1480021" cy="328746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4953" y="1313334"/>
            <a:ext cx="220935" cy="220935"/>
          </a:xfrm>
          <a:prstGeom prst="rect">
            <a:avLst/>
          </a:prstGeom>
        </p:spPr>
      </p:pic>
      <p:sp>
        <p:nvSpPr>
          <p:cNvPr id="6" name="Text 2"/>
          <p:cNvSpPr/>
          <p:nvPr>
            <p:custDataLst>
              <p:tags r:id="rId5"/>
            </p:custDataLst>
          </p:nvPr>
        </p:nvSpPr>
        <p:spPr>
          <a:xfrm>
            <a:off x="3178820" y="1351285"/>
            <a:ext cx="1588963" cy="1726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Autenticación Completa</a:t>
            </a:r>
            <a:endParaRPr lang="en-US" sz="1050" dirty="0"/>
          </a:p>
        </p:txBody>
      </p:sp>
      <p:sp>
        <p:nvSpPr>
          <p:cNvPr id="7" name="Text 3"/>
          <p:cNvSpPr/>
          <p:nvPr>
            <p:custDataLst>
              <p:tags r:id="rId6"/>
            </p:custDataLst>
          </p:nvPr>
        </p:nvSpPr>
        <p:spPr>
          <a:xfrm>
            <a:off x="3178820" y="1622301"/>
            <a:ext cx="2530599" cy="5014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Sistema de Login y Registro con validación de formularios, manejo de errores y persistencia de sesión mediante SharedPreferences.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32351" y="1313334"/>
            <a:ext cx="220935" cy="220935"/>
          </a:xfrm>
          <a:prstGeom prst="rect">
            <a:avLst/>
          </a:prstGeom>
        </p:spPr>
      </p:pic>
      <p:sp>
        <p:nvSpPr>
          <p:cNvPr id="9" name="Text 4"/>
          <p:cNvSpPr/>
          <p:nvPr>
            <p:custDataLst>
              <p:tags r:id="rId10"/>
            </p:custDataLst>
          </p:nvPr>
        </p:nvSpPr>
        <p:spPr>
          <a:xfrm>
            <a:off x="6176218" y="1351285"/>
            <a:ext cx="1380976" cy="1726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Listado desde API</a:t>
            </a:r>
            <a:endParaRPr lang="en-US" sz="1050" dirty="0"/>
          </a:p>
        </p:txBody>
      </p:sp>
      <p:sp>
        <p:nvSpPr>
          <p:cNvPr id="10" name="Text 5"/>
          <p:cNvSpPr/>
          <p:nvPr>
            <p:custDataLst>
              <p:tags r:id="rId11"/>
            </p:custDataLst>
          </p:nvPr>
        </p:nvSpPr>
        <p:spPr>
          <a:xfrm>
            <a:off x="6176218" y="1622301"/>
            <a:ext cx="2530599" cy="5014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Carga dinámica de Pokémon desde la PokéAPI con paginación, imágenes oficiales y datos actualizados en tiempo real.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34953" y="2320454"/>
            <a:ext cx="220935" cy="220935"/>
          </a:xfrm>
          <a:prstGeom prst="rect">
            <a:avLst/>
          </a:prstGeom>
        </p:spPr>
      </p:pic>
      <p:sp>
        <p:nvSpPr>
          <p:cNvPr id="12" name="Text 6"/>
          <p:cNvSpPr/>
          <p:nvPr>
            <p:custDataLst>
              <p:tags r:id="rId15"/>
            </p:custDataLst>
          </p:nvPr>
        </p:nvSpPr>
        <p:spPr>
          <a:xfrm>
            <a:off x="3178820" y="2358405"/>
            <a:ext cx="1380976" cy="1726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Búsqueda y Filtrado</a:t>
            </a:r>
            <a:endParaRPr lang="en-US" sz="1050" dirty="0"/>
          </a:p>
        </p:txBody>
      </p:sp>
      <p:sp>
        <p:nvSpPr>
          <p:cNvPr id="13" name="Text 7"/>
          <p:cNvSpPr/>
          <p:nvPr>
            <p:custDataLst>
              <p:tags r:id="rId16"/>
            </p:custDataLst>
          </p:nvPr>
        </p:nvSpPr>
        <p:spPr>
          <a:xfrm>
            <a:off x="3178820" y="2629421"/>
            <a:ext cx="2530599" cy="5014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Búsqueda por nombre con debounce y filtrado por tipo (fuego, agua, eléctrico, etc.) con actualización instantánea de la lista.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32351" y="2320454"/>
            <a:ext cx="220935" cy="220935"/>
          </a:xfrm>
          <a:prstGeom prst="rect">
            <a:avLst/>
          </a:prstGeom>
        </p:spPr>
      </p:pic>
      <p:sp>
        <p:nvSpPr>
          <p:cNvPr id="15" name="Text 8"/>
          <p:cNvSpPr/>
          <p:nvPr>
            <p:custDataLst>
              <p:tags r:id="rId20"/>
            </p:custDataLst>
          </p:nvPr>
        </p:nvSpPr>
        <p:spPr>
          <a:xfrm>
            <a:off x="6176218" y="2358405"/>
            <a:ext cx="1380976" cy="1726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Sistema de Favoritos</a:t>
            </a:r>
            <a:endParaRPr lang="en-US" sz="1050" dirty="0"/>
          </a:p>
        </p:txBody>
      </p:sp>
      <p:sp>
        <p:nvSpPr>
          <p:cNvPr id="16" name="Text 9"/>
          <p:cNvSpPr/>
          <p:nvPr>
            <p:custDataLst>
              <p:tags r:id="rId21"/>
            </p:custDataLst>
          </p:nvPr>
        </p:nvSpPr>
        <p:spPr>
          <a:xfrm>
            <a:off x="6176218" y="2629421"/>
            <a:ext cx="2530599" cy="6685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Los usuarios pueden marcar Pokémon como favoritos, almacenados en SQLite y sincronizados con su perfil de forma persistente.</a:t>
            </a:r>
            <a:endParaRPr lang="en-US" sz="850" dirty="0"/>
          </a:p>
        </p:txBody>
      </p:sp>
      <p:sp>
        <p:nvSpPr>
          <p:cNvPr id="17" name="Rectángulo 16"/>
          <p:cNvSpPr/>
          <p:nvPr/>
        </p:nvSpPr>
        <p:spPr>
          <a:xfrm>
            <a:off x="0" y="4855845"/>
            <a:ext cx="9143365" cy="287655"/>
          </a:xfrm>
          <a:prstGeom prst="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>
              <a:noFill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22883"/>
            <a:ext cx="5360863" cy="3573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Flujo de Navegación de la Aplicación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349" y="891034"/>
            <a:ext cx="8229302" cy="3516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La aplicación gestiona un flujo de navegación completo y seguro, con protección de rutas y redirección automática según el estado de autenticación del usuario.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136" y="1361256"/>
            <a:ext cx="7965728" cy="2989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96733" y="3624698"/>
            <a:ext cx="1430053" cy="2314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Favoritos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511174" y="3508975"/>
            <a:ext cx="1201452" cy="4628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Detalle Pokémon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3776644" y="3624698"/>
            <a:ext cx="1430053" cy="2314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Inicio - Lista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499313" y="3508975"/>
            <a:ext cx="1201453" cy="4628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Login / Registro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60466" y="3508975"/>
            <a:ext cx="1201453" cy="46288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Pantalla Inicial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57349" y="4468862"/>
            <a:ext cx="8229302" cy="3516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D6D9D7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El router centralizado (GoRouter) controla las transiciones entre pantallas, redirigiendo al usuario a Login si no hay sesión activa o directamente al Home si ya está autenticado.</a:t>
            </a:r>
            <a:endParaRPr lang="en-US" sz="900" dirty="0"/>
          </a:p>
        </p:txBody>
      </p:sp>
      <p:sp>
        <p:nvSpPr>
          <p:cNvPr id="11" name="Rectángulo 10"/>
          <p:cNvSpPr/>
          <p:nvPr/>
        </p:nvSpPr>
        <p:spPr>
          <a:xfrm>
            <a:off x="0" y="4855845"/>
            <a:ext cx="9143365" cy="287655"/>
          </a:xfrm>
          <a:prstGeom prst="rect">
            <a:avLst/>
          </a:prstGeom>
          <a:solidFill>
            <a:srgbClr val="2D31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>
              <a:noFill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56.26952755905515,&quot;left&quot;:223.22464566929133,&quot;top&quot;:103.41212598425197,&quot;width&quot;:462.35149606299217}"/>
</p:tagLst>
</file>

<file path=ppt/tags/tag2.xml><?xml version="1.0" encoding="utf-8"?>
<p:tagLst xmlns:p="http://schemas.openxmlformats.org/presentationml/2006/main">
  <p:tag name="KSO_WM_DIAGRAM_VIRTUALLY_FRAME" val="{&quot;height&quot;:156.26952755905515,&quot;left&quot;:223.22464566929133,&quot;top&quot;:103.41212598425197,&quot;width&quot;:462.35149606299217}"/>
</p:tagLst>
</file>

<file path=ppt/tags/tag3.xml><?xml version="1.0" encoding="utf-8"?>
<p:tagLst xmlns:p="http://schemas.openxmlformats.org/presentationml/2006/main">
  <p:tag name="KSO_WM_DIAGRAM_VIRTUALLY_FRAME" val="{&quot;height&quot;:156.26952755905515,&quot;left&quot;:223.22464566929133,&quot;top&quot;:103.41212598425197,&quot;width&quot;:462.35149606299217}"/>
</p:tagLst>
</file>

<file path=ppt/tags/tag4.xml><?xml version="1.0" encoding="utf-8"?>
<p:tagLst xmlns:p="http://schemas.openxmlformats.org/presentationml/2006/main">
  <p:tag name="KSO_WM_DIAGRAM_VIRTUALLY_FRAME" val="{&quot;height&quot;:156.26952755905515,&quot;left&quot;:223.22464566929133,&quot;top&quot;:103.41212598425197,&quot;width&quot;:462.35149606299217}"/>
</p:tagLst>
</file>

<file path=ppt/tags/tag5.xml><?xml version="1.0" encoding="utf-8"?>
<p:tagLst xmlns:p="http://schemas.openxmlformats.org/presentationml/2006/main">
  <p:tag name="KSO_WM_DIAGRAM_VIRTUALLY_FRAME" val="{&quot;height&quot;:156.26952755905515,&quot;left&quot;:223.22464566929133,&quot;top&quot;:103.41212598425197,&quot;width&quot;:462.35149606299217}"/>
</p:tagLst>
</file>

<file path=ppt/tags/tag6.xml><?xml version="1.0" encoding="utf-8"?>
<p:tagLst xmlns:p="http://schemas.openxmlformats.org/presentationml/2006/main">
  <p:tag name="KSO_WM_DIAGRAM_VIRTUALLY_FRAME" val="{&quot;height&quot;:156.26952755905515,&quot;left&quot;:223.22464566929133,&quot;top&quot;:103.41212598425197,&quot;width&quot;:462.35149606299217}"/>
</p:tagLst>
</file>

<file path=ppt/tags/tag7.xml><?xml version="1.0" encoding="utf-8"?>
<p:tagLst xmlns:p="http://schemas.openxmlformats.org/presentationml/2006/main">
  <p:tag name="KSO_WM_DIAGRAM_VIRTUALLY_FRAME" val="{&quot;height&quot;:156.26952755905515,&quot;left&quot;:223.22464566929133,&quot;top&quot;:103.41212598425197,&quot;width&quot;:462.35149606299217}"/>
</p:tagLst>
</file>

<file path=ppt/tags/tag8.xml><?xml version="1.0" encoding="utf-8"?>
<p:tagLst xmlns:p="http://schemas.openxmlformats.org/presentationml/2006/main">
  <p:tag name="KSO_WM_DIAGRAM_VIRTUALLY_FRAME" val="{&quot;height&quot;:156.26952755905515,&quot;left&quot;:223.22464566929133,&quot;top&quot;:103.41212598425197,&quot;width&quot;:462.35149606299217}"/>
</p:tagLst>
</file>

<file path=ppt/tags/tag9.xml><?xml version="1.0" encoding="utf-8"?>
<p:tagLst xmlns:p="http://schemas.openxmlformats.org/presentationml/2006/main">
  <p:tag name="KSO_WM_DIAGRAM_VIRTUALLY_FRAME" val="{&quot;height&quot;:156.26952755905515,&quot;left&quot;:223.22464566929133,&quot;top&quot;:103.41212598425197,&quot;width&quot;:462.35149606299217}"/>
</p:tagLst>
</file>

<file path=ppt/tags/tag10.xml><?xml version="1.0" encoding="utf-8"?>
<p:tagLst xmlns:p="http://schemas.openxmlformats.org/presentationml/2006/main">
  <p:tag name="KSO_WM_DIAGRAM_VIRTUALLY_FRAME" val="{&quot;height&quot;:156.26952755905515,&quot;left&quot;:223.22464566929133,&quot;top&quot;:103.41212598425197,&quot;width&quot;:462.35149606299217}"/>
</p:tagLst>
</file>

<file path=ppt/tags/tag11.xml><?xml version="1.0" encoding="utf-8"?>
<p:tagLst xmlns:p="http://schemas.openxmlformats.org/presentationml/2006/main">
  <p:tag name="KSO_WM_DIAGRAM_VIRTUALLY_FRAME" val="{&quot;height&quot;:156.26952755905515,&quot;left&quot;:223.22464566929133,&quot;top&quot;:103.41212598425197,&quot;width&quot;:462.35149606299217}"/>
</p:tagLst>
</file>

<file path=ppt/tags/tag12.xml><?xml version="1.0" encoding="utf-8"?>
<p:tagLst xmlns:p="http://schemas.openxmlformats.org/presentationml/2006/main">
  <p:tag name="KSO_WM_DIAGRAM_VIRTUALLY_FRAME" val="{&quot;height&quot;:156.26952755905515,&quot;left&quot;:223.22464566929133,&quot;top&quot;:103.41212598425197,&quot;width&quot;:462.3514960629921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4127</Words>
  <Application>WPS Presentation</Application>
  <PresentationFormat>On-screen Show (16:9)</PresentationFormat>
  <Paragraphs>123</Paragraphs>
  <Slides>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SimSun</vt:lpstr>
      <vt:lpstr>Wingdings</vt:lpstr>
      <vt:lpstr>DM Sans Medium</vt:lpstr>
      <vt:lpstr>DM Sans Medium</vt:lpstr>
      <vt:lpstr>DM Sans Medium</vt:lpstr>
      <vt:lpstr>Inter</vt:lpstr>
      <vt:lpstr>Inter</vt:lpstr>
      <vt:lpstr>Inter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Alan Utu</cp:lastModifiedBy>
  <cp:revision>3</cp:revision>
  <dcterms:created xsi:type="dcterms:W3CDTF">2026-05-27T01:29:00Z</dcterms:created>
  <dcterms:modified xsi:type="dcterms:W3CDTF">2026-05-27T11:31:09Z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1205DB6F7A0041F88EE7CE89FD5A6119_13</vt:lpwstr>
  </property>
  <property fmtid="{D5CDD505-2E9C-101B-9397-08002B2CF9AE}" pid="3" name="KSOProductBuildVer">
    <vt:lpwstr>3082-12.2.0.23202</vt:lpwstr>
  </property>
</Properties>
</file>